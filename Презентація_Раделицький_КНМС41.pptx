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1371600"/>
            <a:ext cx="3657600" cy="50800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Розроблення web-орієнтованої системи</a:t>
            </a:r>
            <a:br/>
            <a:r>
              <a:t>підтримки продажів малого бізнесу</a:t>
            </a:r>
            <a:br/>
            <a:r>
              <a:t>з функціями обліку товарів, замовлень</a:t>
            </a:r>
            <a:br/>
            <a:r>
              <a:t>та клієнтської бази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91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8CAE4"/>
                </a:solidFill>
                <a:latin typeface="Calibri"/>
              </a:defRPr>
            </a:pPr>
            <a:r>
              <a:t>Дипломна робота бакалавра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114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Студент: Раделицький В.В.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480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Група: КНМС-41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846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Керівник: ________________________________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669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1/12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2743200" cy="50800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t>Загальна концепція роботи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2/12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698480" cy="1645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6C7"/>
                </a:solidFill>
                <a:latin typeface="Calibri"/>
              </a:defRPr>
            </a:pPr>
            <a:r>
              <a:t>Мета роботи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560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2E"/>
                </a:solidFill>
                <a:latin typeface="Calibri"/>
              </a:defRPr>
            </a:pPr>
            <a:r>
              <a:t>Розроблення повнофункціональної web-орієнтованої системи підтримки продажів</a:t>
            </a:r>
            <a:br/>
            <a:r>
              <a:t>для малого бізнесу на прикладі інтернет-магазину одягу «Nordé».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2468880" cy="2194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0690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C7"/>
                </a:solidFill>
                <a:latin typeface="Calibri"/>
              </a:defRPr>
            </a:pPr>
            <a:r>
              <a:t>Каталог та замовлення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4434840"/>
            <a:ext cx="1371600" cy="50800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57200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Calibri"/>
              </a:defRPr>
            </a:pPr>
            <a:r>
              <a:t>Управління товарами,</a:t>
            </a:r>
            <a:br/>
            <a:r>
              <a:t>обробка замовлень,</a:t>
            </a:r>
            <a:br/>
            <a:r>
              <a:t>облік клієнтів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3931920"/>
            <a:ext cx="2468880" cy="2194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40690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C7"/>
                </a:solidFill>
                <a:latin typeface="Calibri"/>
              </a:defRPr>
            </a:pPr>
            <a:r>
              <a:t>Онлайн-оплата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11880" y="4434840"/>
            <a:ext cx="1371600" cy="50800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1880" y="457200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Calibri"/>
              </a:defRPr>
            </a:pPr>
            <a:r>
              <a:t>Інтеграція платіжної</a:t>
            </a:r>
            <a:br/>
            <a:r>
              <a:t>системи LiqPay</a:t>
            </a:r>
            <a:br/>
            <a:r>
              <a:t>для безпечних платежів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3931920"/>
            <a:ext cx="2468880" cy="2194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40690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C7"/>
                </a:solidFill>
                <a:latin typeface="Calibri"/>
              </a:defRPr>
            </a:pPr>
            <a:r>
              <a:t>AI-генерація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4434840"/>
            <a:ext cx="1371600" cy="50800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457200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Calibri"/>
              </a:defRPr>
            </a:pPr>
            <a:r>
              <a:t>Автоматична генерація</a:t>
            </a:r>
            <a:br/>
            <a:r>
              <a:t>описів товарів через</a:t>
            </a:r>
            <a:br/>
            <a:r>
              <a:t>Google Gemini 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23960" y="3931920"/>
            <a:ext cx="2468880" cy="2194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06840" y="40690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C7"/>
                </a:solidFill>
                <a:latin typeface="Calibri"/>
              </a:defRPr>
            </a:pPr>
            <a:r>
              <a:t>Аналітика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06840" y="4434840"/>
            <a:ext cx="1371600" cy="50800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06840" y="457200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Calibri"/>
              </a:defRPr>
            </a:pPr>
            <a:r>
              <a:t>Сегментація клієнтів,</a:t>
            </a:r>
            <a:br/>
            <a:r>
              <a:t>CLV, воронка замовлень,</a:t>
            </a:r>
            <a:br/>
            <a:r>
              <a:t>детальні звіти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309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Архітектура: клієнт-серверна SPA (Single Page Application) з REST API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2743200" cy="50800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t>Аналіз існуючих альтернативних систем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3/12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291840" cy="2103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3291840" cy="50800"/>
          </a:xfrm>
          <a:prstGeom prst="rect">
            <a:avLst/>
          </a:prstGeom>
          <a:solidFill>
            <a:srgbClr val="F53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t>Shopify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365C"/>
                </a:solidFill>
                <a:latin typeface="Calibri"/>
              </a:defRPr>
            </a:pPr>
            <a:r>
              <a:t>Недоліки: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2608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Calibri"/>
              </a:defRPr>
            </a:pPr>
            <a:r>
              <a:t>Висока вартість підписки</a:t>
            </a:r>
            <a:br/>
            <a:r>
              <a:t>Обмежена кастомізація</a:t>
            </a:r>
            <a:br/>
            <a:r>
              <a:t>Залежність від платформи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2011680"/>
            <a:ext cx="3291840" cy="2103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2011680"/>
            <a:ext cx="3291840" cy="50800"/>
          </a:xfrm>
          <a:prstGeom prst="rect">
            <a:avLst/>
          </a:prstGeom>
          <a:solidFill>
            <a:srgbClr val="FF8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22402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t>WooCommerce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6517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365C"/>
                </a:solidFill>
                <a:latin typeface="Calibri"/>
              </a:defRPr>
            </a:pPr>
            <a:r>
              <a:t>Недоліки: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92608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Calibri"/>
              </a:defRPr>
            </a:pPr>
            <a:r>
              <a:t>Потребує WordPress</a:t>
            </a:r>
            <a:br/>
            <a:r>
              <a:t>Складність масштабування</a:t>
            </a:r>
            <a:br/>
            <a:r>
              <a:t>Обмежена аналітика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2011680"/>
            <a:ext cx="3291840" cy="2103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63840" y="2011680"/>
            <a:ext cx="3291840" cy="50800"/>
          </a:xfrm>
          <a:prstGeom prst="rect">
            <a:avLst/>
          </a:prstGeom>
          <a:solidFill>
            <a:srgbClr val="FF8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0" y="22402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t>Prom.ua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26517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365C"/>
                </a:solidFill>
                <a:latin typeface="Calibri"/>
              </a:defRPr>
            </a:pPr>
            <a:r>
              <a:t>Недоліки: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92608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Calibri"/>
              </a:defRPr>
            </a:pPr>
            <a:r>
              <a:t>Комісія з кожного продажу</a:t>
            </a:r>
            <a:br/>
            <a:r>
              <a:t>Обмежений брендинг</a:t>
            </a:r>
            <a:br/>
            <a:r>
              <a:t>Залежність від маркетплейсу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389120"/>
            <a:ext cx="10698480" cy="2011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4389120"/>
            <a:ext cx="10698480" cy="50800"/>
          </a:xfrm>
          <a:prstGeom prst="rect">
            <a:avLst/>
          </a:prstGeom>
          <a:solidFill>
            <a:srgbClr val="2DC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572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CE89"/>
                </a:solidFill>
                <a:latin typeface="Calibri"/>
              </a:defRPr>
            </a:pPr>
            <a:r>
              <a:t>Переваги власного рішення «Nordé»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9834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✓  Повний контроль над функціональністю та дизайном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✓  Відсутність комісій та щомісячних підписок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✓  Глибока аналітика з сегментацією клієнтів та CLV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✓  Інтеграція AI для автоматизації описів товарів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✓  Гнучка рольова модель доступу (4 рівні)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2743200" cy="50800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t>Основні завдання роботи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4/12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698480" cy="4389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28600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1A1A2E"/>
                </a:solidFill>
                <a:latin typeface="Calibri"/>
              </a:rPr>
              <a:t>1.  Огляд та аналіз існуючих технологій та підходів для розроблення web-систем підтримки продажів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A1A2E"/>
                </a:solidFill>
                <a:latin typeface="Calibri"/>
              </a:rPr>
              <a:t>2.  Формулювання функціональних та нефункціональних вимог до системи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A1A2E"/>
                </a:solidFill>
                <a:latin typeface="Calibri"/>
              </a:rPr>
              <a:t>3.  Проектування архітектури системи та структури бази даних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A1A2E"/>
                </a:solidFill>
                <a:latin typeface="Calibri"/>
              </a:rPr>
              <a:t>4.  Розроблення діаграм варіантів використання та структурних схем модулів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A1A2E"/>
                </a:solidFill>
                <a:latin typeface="Calibri"/>
              </a:rPr>
              <a:t>5.  Розроблення серверної частини (REST API) з автентифікацією та авторизацією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A1A2E"/>
                </a:solidFill>
                <a:latin typeface="Calibri"/>
              </a:rPr>
              <a:t>6.  Розроблення клієнтської частини (SPA) для покупців та адміністраторів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A1A2E"/>
                </a:solidFill>
                <a:latin typeface="Calibri"/>
              </a:rPr>
              <a:t>7.  Інтеграція платіжної системи LiqPay та AI-сервісу Google Gemini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A1A2E"/>
                </a:solidFill>
                <a:latin typeface="Calibri"/>
              </a:rPr>
              <a:t>8.  Тестування та розгортання системи в Docker-середовищі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2743200" cy="50800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t>Проектування системи — Архітектура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Рис. 1. Структурна схема системи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5/12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77440"/>
            <a:ext cx="25603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63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377440"/>
            <a:ext cx="2560320" cy="50800"/>
          </a:xfrm>
          <a:prstGeom prst="rect">
            <a:avLst/>
          </a:prstGeom>
          <a:solidFill>
            <a:srgbClr val="336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5603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6391"/>
                </a:solidFill>
                <a:latin typeface="Calibri"/>
              </a:defRPr>
            </a:pPr>
            <a:r>
              <a:t>PostgreSQL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92608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2E"/>
                </a:solidFill>
                <a:latin typeface="Calibri"/>
              </a:defRPr>
            </a:pPr>
            <a:r>
              <a:t>Реляційна БД</a:t>
            </a:r>
            <a:br/>
            <a:r>
              <a:t>6 таблиць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2377440"/>
            <a:ext cx="25603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96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66160" y="2377440"/>
            <a:ext cx="2560320" cy="50800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03320" y="25603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9688"/>
                </a:solidFill>
                <a:latin typeface="Calibri"/>
              </a:defRPr>
            </a:pPr>
            <a:r>
              <a:t>FastAPI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292608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2E"/>
                </a:solidFill>
                <a:latin typeface="Calibri"/>
              </a:defRPr>
            </a:pPr>
            <a:r>
              <a:t>Python 3.13</a:t>
            </a:r>
            <a:br/>
            <a:r>
              <a:t>REST API</a:t>
            </a:r>
            <a:br/>
            <a:r>
              <a:t>8 модулів роутерів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377440"/>
            <a:ext cx="25603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2377440"/>
            <a:ext cx="2560320" cy="50800"/>
          </a:xfrm>
          <a:prstGeom prst="rect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25603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1DAFB"/>
                </a:solidFill>
                <a:latin typeface="Calibri"/>
              </a:defRPr>
            </a:pPr>
            <a:r>
              <a:t>React Client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92608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2E"/>
                </a:solidFill>
                <a:latin typeface="Calibri"/>
              </a:defRPr>
            </a:pPr>
            <a:r>
              <a:t>SPA для покупців</a:t>
            </a:r>
            <a:br/>
            <a:r>
              <a:t>14 сторінок</a:t>
            </a:r>
            <a:br/>
            <a:r>
              <a:t>Порт 5180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2377440"/>
            <a:ext cx="25603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85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235440" y="2377440"/>
            <a:ext cx="2560320" cy="50800"/>
          </a:xfrm>
          <a:prstGeom prst="rect">
            <a:avLst/>
          </a:prstGeom>
          <a:solidFill>
            <a:srgbClr val="FF8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72600" y="25603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8533"/>
                </a:solidFill>
                <a:latin typeface="Calibri"/>
              </a:defRPr>
            </a:pPr>
            <a:r>
              <a:t>React Admin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600" y="292608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2E"/>
                </a:solidFill>
                <a:latin typeface="Calibri"/>
              </a:defRPr>
            </a:pPr>
            <a:r>
              <a:t>Адмін-панель</a:t>
            </a:r>
            <a:br/>
            <a:r>
              <a:t>Аналітика</a:t>
            </a:r>
            <a:br/>
            <a:r>
              <a:t>Порт 5183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2103120"/>
            <a:ext cx="11338560" cy="9144"/>
          </a:xfrm>
          <a:prstGeom prst="round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1920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C7"/>
                </a:solidFill>
                <a:latin typeface="Calibri"/>
              </a:defRPr>
            </a:pPr>
            <a:r>
              <a:t>Docker Compose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3291840" y="3200400"/>
            <a:ext cx="274320" cy="182880"/>
          </a:xfrm>
          <a:prstGeom prst="rightArrow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ight Arrow 24"/>
          <p:cNvSpPr/>
          <p:nvPr/>
        </p:nvSpPr>
        <p:spPr>
          <a:xfrm>
            <a:off x="6126480" y="3200400"/>
            <a:ext cx="274320" cy="182880"/>
          </a:xfrm>
          <a:prstGeom prst="rightArrow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ight Arrow 25"/>
          <p:cNvSpPr/>
          <p:nvPr/>
        </p:nvSpPr>
        <p:spPr>
          <a:xfrm>
            <a:off x="8961120" y="3200400"/>
            <a:ext cx="274320" cy="182880"/>
          </a:xfrm>
          <a:prstGeom prst="rightArrow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31520" y="4572000"/>
            <a:ext cx="5212080" cy="2011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6634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C7"/>
                </a:solidFill>
                <a:latin typeface="Calibri"/>
              </a:defRPr>
            </a:pPr>
            <a:r>
              <a:t>Технологічний стек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02920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Backend: FastAPI + SQLAlchemy 2.0 + Alembic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Frontend: React 19 + TypeScript + Vite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Auth: JWT (python-jose) + bcrypt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Payments: LiqPay API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AI: Google Gemini (gemini-3.1-flash-lite)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Infra: Docker Compose, PostgreSQL 16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4572000"/>
            <a:ext cx="5212080" cy="2011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46634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C7"/>
                </a:solidFill>
                <a:latin typeface="Calibri"/>
              </a:defRPr>
            </a:pPr>
            <a:r>
              <a:t>Вимоги до системи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02920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Функціональні: каталог, кошик, замовлення,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  оплата, відгуки, промокоди, AI-описи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  адмін-панель, аналітика, рольовий доступ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Нефункціональні: продуктивність, безпека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  (bcrypt, JWT), масштабованість (Docker),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  кросбраузерність, адаптивний дизайн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2743200" cy="50800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t>Діаграма варіантів використання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Рис. 2. Діаграма варіантів використання системи «Nordé»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6/12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20116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AAA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AAAAAA"/>
                </a:solidFill>
                <a:latin typeface="Calibri"/>
              </a:defRPr>
            </a:pPr>
            <a:r>
              <a:t>Відвідувач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2148840"/>
            <a:ext cx="16002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AAA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46120" y="2176272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Перегляд каталогу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92040" y="2148840"/>
            <a:ext cx="16002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AAA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176272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Пошук товарів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2148840"/>
            <a:ext cx="16002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AAA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2176272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Реєстрація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971800"/>
            <a:ext cx="20116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9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0175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96C7"/>
                </a:solidFill>
                <a:latin typeface="Calibri"/>
              </a:defRPr>
            </a:pPr>
            <a:r>
              <a:t>Покупець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0" y="3017520"/>
            <a:ext cx="16002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9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46120" y="3044952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Додавання в кошик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92040" y="3017520"/>
            <a:ext cx="16002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9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37760" y="3044952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Оформлення замовлення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0" y="3017520"/>
            <a:ext cx="16002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9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9400" y="3044952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Оплата (LiqPay)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75320" y="3017520"/>
            <a:ext cx="16002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9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3044952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Написання відгуків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966960" y="3017520"/>
            <a:ext cx="16002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9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12680" y="3044952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Історія замовлень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658600" y="3017520"/>
            <a:ext cx="16002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9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704320" y="3044952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Редагування профілю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3840480"/>
            <a:ext cx="20116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85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38862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8533"/>
                </a:solidFill>
                <a:latin typeface="Calibri"/>
              </a:defRPr>
            </a:pPr>
            <a:r>
              <a:t>Менеджер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00400" y="3886200"/>
            <a:ext cx="16002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85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46120" y="3913632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Оновлення статусів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892040" y="3886200"/>
            <a:ext cx="16002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85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37760" y="3913632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Перегляд аналітики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4709160"/>
            <a:ext cx="20116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3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47548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365C"/>
                </a:solidFill>
                <a:latin typeface="Calibri"/>
              </a:defRPr>
            </a:pPr>
            <a:r>
              <a:t>Адміністратор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00400" y="4754880"/>
            <a:ext cx="16002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3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46120" y="4782312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CRUD товарів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892040" y="4754880"/>
            <a:ext cx="16002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3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937760" y="4782312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Управління промокодами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0" y="4754880"/>
            <a:ext cx="16002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3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29400" y="4782312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Управління користувачами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5577840"/>
            <a:ext cx="20116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60" y="56235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8B5CF6"/>
                </a:solidFill>
                <a:latin typeface="Calibri"/>
              </a:defRPr>
            </a:pPr>
            <a:r>
              <a:t>Суперадмін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200400" y="5623560"/>
            <a:ext cx="16002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46120" y="5650992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Повний доступ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892040" y="5623560"/>
            <a:ext cx="16002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37760" y="5650992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Зміна ролей усіх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31520" y="6400800"/>
            <a:ext cx="10698480" cy="9144"/>
          </a:xfrm>
          <a:prstGeom prst="round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1520" y="6217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Рольова ієрархія:  superadmin  ▸  admin  ▸  manager  ▸  customer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2743200" cy="50800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t>Структура бази даних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Рис. 3. Схема реляційної бази даних системи (6 таблиць, PostgreSQL 16)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7/12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34747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9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011680"/>
            <a:ext cx="3474720" cy="50800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1488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C7"/>
                </a:solidFill>
                <a:latin typeface="Calibri"/>
              </a:defRPr>
            </a:pPr>
            <a:r>
              <a:t>users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6888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id (PK)</a:t>
            </a:r>
            <a:br/>
            <a:r>
              <a:t>name</a:t>
            </a:r>
            <a:br/>
            <a:r>
              <a:t>email (UNIQUE)</a:t>
            </a:r>
            <a:br/>
            <a:r>
              <a:t>phone</a:t>
            </a:r>
            <a:br/>
            <a:r>
              <a:t>password_hash</a:t>
            </a:r>
            <a:br/>
            <a:r>
              <a:t>role (enum)</a:t>
            </a:r>
            <a:br/>
            <a:r>
              <a:t>is_verified</a:t>
            </a:r>
            <a:br/>
            <a:r>
              <a:t>verification_token</a:t>
            </a:r>
            <a:br/>
            <a:r>
              <a:t>token_expires_at</a:t>
            </a:r>
            <a:br/>
            <a:r>
              <a:t>created_at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2011680"/>
            <a:ext cx="34747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96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06240" y="2011680"/>
            <a:ext cx="3474720" cy="50800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21488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88"/>
                </a:solidFill>
                <a:latin typeface="Calibri"/>
              </a:defRPr>
            </a:pPr>
            <a:r>
              <a:t>products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246888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id (PK)</a:t>
            </a:r>
            <a:br/>
            <a:r>
              <a:t>name</a:t>
            </a:r>
            <a:br/>
            <a:r>
              <a:t>price</a:t>
            </a:r>
            <a:br/>
            <a:r>
              <a:t>old_price</a:t>
            </a:r>
            <a:br/>
            <a:r>
              <a:t>img</a:t>
            </a:r>
            <a:br/>
            <a:r>
              <a:t>badge (enum)</a:t>
            </a:r>
            <a:br/>
            <a:r>
              <a:t>category</a:t>
            </a:r>
            <a:br/>
            <a:r>
              <a:t>stock</a:t>
            </a:r>
            <a:br/>
            <a:r>
              <a:t>ai_description</a:t>
            </a:r>
            <a:br/>
            <a:r>
              <a:t>ai_specs (JSON)</a:t>
            </a:r>
            <a:br/>
            <a:r>
              <a:t>created_at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2011680"/>
            <a:ext cx="34747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85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5279" y="2011680"/>
            <a:ext cx="3474720" cy="50800"/>
          </a:xfrm>
          <a:prstGeom prst="rect">
            <a:avLst/>
          </a:prstGeom>
          <a:solidFill>
            <a:srgbClr val="FF8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2439" y="21488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533"/>
                </a:solidFill>
                <a:latin typeface="Calibri"/>
              </a:defRPr>
            </a:pPr>
            <a:r>
              <a:t>orders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39" y="246888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id (PK)</a:t>
            </a:r>
            <a:br/>
            <a:r>
              <a:t>user_id (FK→users)</a:t>
            </a:r>
            <a:br/>
            <a:r>
              <a:t>status (enum)</a:t>
            </a:r>
            <a:br/>
            <a:r>
              <a:t>total</a:t>
            </a:r>
            <a:br/>
            <a:r>
              <a:t>promo_code</a:t>
            </a:r>
            <a:br/>
            <a:r>
              <a:t>discount</a:t>
            </a:r>
            <a:br/>
            <a:r>
              <a:t>name, surname</a:t>
            </a:r>
            <a:br/>
            <a:r>
              <a:t>phone, email, address</a:t>
            </a:r>
            <a:br/>
            <a:r>
              <a:t>payment_method</a:t>
            </a:r>
            <a:br/>
            <a:r>
              <a:t>delivery_method</a:t>
            </a:r>
            <a:br/>
            <a:r>
              <a:t>payment_status</a:t>
            </a:r>
            <a:br/>
            <a:r>
              <a:t>created_at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480560"/>
            <a:ext cx="34747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3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480560"/>
            <a:ext cx="3474720" cy="50800"/>
          </a:xfrm>
          <a:prstGeom prst="rect">
            <a:avLst/>
          </a:prstGeom>
          <a:solidFill>
            <a:srgbClr val="F53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6177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365C"/>
                </a:solidFill>
                <a:latin typeface="Calibri"/>
              </a:defRPr>
            </a:pPr>
            <a:r>
              <a:t>order_items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93776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id (PK)</a:t>
            </a:r>
            <a:br/>
            <a:r>
              <a:t>order_id (FK→orders)</a:t>
            </a:r>
            <a:br/>
            <a:r>
              <a:t>product_id (FK→products)</a:t>
            </a:r>
            <a:br/>
            <a:r>
              <a:t>product_name</a:t>
            </a:r>
            <a:br/>
            <a:r>
              <a:t>qty</a:t>
            </a:r>
            <a:br/>
            <a:r>
              <a:t>price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06240" y="4480560"/>
            <a:ext cx="34747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06240" y="4480560"/>
            <a:ext cx="3474720" cy="508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43400" y="46177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B5CF6"/>
                </a:solidFill>
                <a:latin typeface="Calibri"/>
              </a:defRPr>
            </a:pPr>
            <a:r>
              <a:t>product_reviews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493776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id (PK)</a:t>
            </a:r>
            <a:br/>
            <a:r>
              <a:t>product_id (FK→products)</a:t>
            </a:r>
            <a:br/>
            <a:r>
              <a:t>user_id (FK→users)</a:t>
            </a:r>
            <a:br/>
            <a:r>
              <a:t>rating (1-5)</a:t>
            </a:r>
            <a:br/>
            <a:r>
              <a:t>comment</a:t>
            </a:r>
            <a:br/>
            <a:r>
              <a:t>created_at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55279" y="4480560"/>
            <a:ext cx="34747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DC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955279" y="4480560"/>
            <a:ext cx="3474720" cy="50800"/>
          </a:xfrm>
          <a:prstGeom prst="rect">
            <a:avLst/>
          </a:prstGeom>
          <a:solidFill>
            <a:srgbClr val="2DC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92439" y="46177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CE89"/>
                </a:solidFill>
                <a:latin typeface="Calibri"/>
              </a:defRPr>
            </a:pPr>
            <a:r>
              <a:t>promo_codes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2439" y="493776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id (PK)</a:t>
            </a:r>
            <a:br/>
            <a:r>
              <a:t>code (UNIQUE)</a:t>
            </a:r>
            <a:br/>
            <a:r>
              <a:t>discount_percent</a:t>
            </a:r>
            <a:br/>
            <a:r>
              <a:t>discount_amount</a:t>
            </a:r>
            <a:br/>
            <a:r>
              <a:t>max_uses</a:t>
            </a:r>
            <a:br/>
            <a:r>
              <a:t>used_count</a:t>
            </a:r>
            <a:br/>
            <a:r>
              <a:t>is_active</a:t>
            </a:r>
            <a:br/>
            <a:r>
              <a:t>expires_at</a:t>
            </a:r>
            <a:br/>
            <a:r>
              <a:t>created_at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2743200" cy="50800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t>Структура серверної частини (REST API)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Рис. 4. Модулі REST API серверної частини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8/12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26060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9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103120"/>
            <a:ext cx="2606040" cy="50800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28600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C7"/>
                </a:solidFill>
                <a:latin typeface="Calibri"/>
              </a:defRPr>
            </a:pPr>
            <a:r>
              <a:t>/api/auth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51760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Calibri"/>
              </a:defRPr>
            </a:pPr>
            <a:r>
              <a:t>Реєстрація, логін,</a:t>
            </a:r>
            <a:br/>
            <a:r>
              <a:t>верифікація email, JWT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61188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66666"/>
                </a:solidFill>
                <a:latin typeface="Calibri"/>
              </a:defRPr>
            </a:pPr>
            <a:r>
              <a:t>5 ендпоінтів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40" y="2103120"/>
            <a:ext cx="26060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96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20440" y="2103120"/>
            <a:ext cx="2606040" cy="50800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228600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88"/>
                </a:solidFill>
                <a:latin typeface="Calibri"/>
              </a:defRPr>
            </a:pPr>
            <a:r>
              <a:t>/api/products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651760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Calibri"/>
              </a:defRPr>
            </a:pPr>
            <a:r>
              <a:t>CRUD товарів, пошук,</a:t>
            </a:r>
            <a:br/>
            <a:r>
              <a:t>фільтрація, популярність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61188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66666"/>
                </a:solidFill>
                <a:latin typeface="Calibri"/>
              </a:defRPr>
            </a:pPr>
            <a:r>
              <a:t>7 ендпоінтів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2103120"/>
            <a:ext cx="26060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85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2103120"/>
            <a:ext cx="2606040" cy="50800"/>
          </a:xfrm>
          <a:prstGeom prst="rect">
            <a:avLst/>
          </a:prstGeom>
          <a:solidFill>
            <a:srgbClr val="FF8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228600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533"/>
                </a:solidFill>
                <a:latin typeface="Calibri"/>
              </a:defRPr>
            </a:pPr>
            <a:r>
              <a:t>/api/orders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651760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Calibri"/>
              </a:defRPr>
            </a:pPr>
            <a:r>
              <a:t>Створення, історія,</a:t>
            </a:r>
            <a:br/>
            <a:r>
              <a:t>оновлення статусу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61188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66666"/>
                </a:solidFill>
                <a:latin typeface="Calibri"/>
              </a:defRPr>
            </a:pPr>
            <a:r>
              <a:t>4 ендпоінти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280" y="2103120"/>
            <a:ext cx="26060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98280" y="2103120"/>
            <a:ext cx="2606040" cy="508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40" y="228600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  <a:latin typeface="Calibri"/>
              </a:defRPr>
            </a:pPr>
            <a:r>
              <a:t>/api/users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2651760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Calibri"/>
              </a:defRPr>
            </a:pPr>
            <a:r>
              <a:t>Управління профілями,</a:t>
            </a:r>
            <a:br/>
            <a:r>
              <a:t>рольова ієрархія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361188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66666"/>
                </a:solidFill>
                <a:latin typeface="Calibri"/>
              </a:defRPr>
            </a:pPr>
            <a:r>
              <a:t>6 ендпоінтів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389120"/>
            <a:ext cx="26060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DC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4389120"/>
            <a:ext cx="2606040" cy="50800"/>
          </a:xfrm>
          <a:prstGeom prst="rect">
            <a:avLst/>
          </a:prstGeom>
          <a:solidFill>
            <a:srgbClr val="2DC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457200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CE89"/>
                </a:solidFill>
                <a:latin typeface="Calibri"/>
              </a:defRPr>
            </a:pPr>
            <a:r>
              <a:t>/api/analytics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4937760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Calibri"/>
              </a:defRPr>
            </a:pPr>
            <a:r>
              <a:t>Зведена, детальна,</a:t>
            </a:r>
            <a:br/>
            <a:r>
              <a:t>розширена аналітика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589788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66666"/>
                </a:solidFill>
                <a:latin typeface="Calibri"/>
              </a:defRPr>
            </a:pPr>
            <a:r>
              <a:t>3 ендпоінти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520440" y="4389120"/>
            <a:ext cx="26060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3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520440" y="4389120"/>
            <a:ext cx="2606040" cy="50800"/>
          </a:xfrm>
          <a:prstGeom prst="rect">
            <a:avLst/>
          </a:prstGeom>
          <a:solidFill>
            <a:srgbClr val="F53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0" y="457200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365C"/>
                </a:solidFill>
                <a:latin typeface="Calibri"/>
              </a:defRPr>
            </a:pPr>
            <a:r>
              <a:t>/api/promocodes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0" y="4937760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Calibri"/>
              </a:defRPr>
            </a:pPr>
            <a:r>
              <a:t>CRUD промокодів,</a:t>
            </a:r>
            <a:br/>
            <a:r>
              <a:t>валідація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0" y="589788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66666"/>
                </a:solidFill>
                <a:latin typeface="Calibri"/>
              </a:defRPr>
            </a:pPr>
            <a:r>
              <a:t>5 ендпоінтів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09360" y="4389120"/>
            <a:ext cx="26060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09360" y="4389120"/>
            <a:ext cx="2606040" cy="50800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46520" y="457200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107"/>
                </a:solidFill>
                <a:latin typeface="Calibri"/>
              </a:defRPr>
            </a:pPr>
            <a:r>
              <a:t>/api/reviews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4937760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Calibri"/>
              </a:defRPr>
            </a:pPr>
            <a:r>
              <a:t>Відгуки до товарів</a:t>
            </a:r>
            <a:br/>
            <a:r>
              <a:t>(лише для куплених)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46520" y="589788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66666"/>
                </a:solidFill>
                <a:latin typeface="Calibri"/>
              </a:defRPr>
            </a:pPr>
            <a:r>
              <a:t>4 ендпоінти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098280" y="4389120"/>
            <a:ext cx="26060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63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098280" y="4389120"/>
            <a:ext cx="2606040" cy="50800"/>
          </a:xfrm>
          <a:prstGeom prst="rect">
            <a:avLst/>
          </a:prstGeom>
          <a:solidFill>
            <a:srgbClr val="336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35440" y="457200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6391"/>
                </a:solidFill>
                <a:latin typeface="Calibri"/>
              </a:defRPr>
            </a:pPr>
            <a:r>
              <a:t>/api/liqpay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35440" y="4937760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Calibri"/>
              </a:defRPr>
            </a:pPr>
            <a:r>
              <a:t>Онлайн-оплата,</a:t>
            </a:r>
            <a:br/>
            <a:r>
              <a:t>callback обробка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35440" y="589788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66666"/>
                </a:solidFill>
                <a:latin typeface="Calibri"/>
              </a:defRPr>
            </a:pPr>
            <a:r>
              <a:t>2 ендпоінти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31520" y="6400800"/>
            <a:ext cx="10698480" cy="9144"/>
          </a:xfrm>
          <a:prstGeom prst="round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1520" y="61722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+ /api/ai — генерація описів товарів через Google Gemini  |  Загалом: 37+ REST ендпоінтів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2743200" cy="50800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t>Структура клієнтської частини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Рис. 5. Компонентна структура фронтенду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9/12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9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011680"/>
            <a:ext cx="5212080" cy="50800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C7"/>
                </a:solidFill>
                <a:latin typeface="Calibri"/>
              </a:defRPr>
            </a:pPr>
            <a:r>
              <a:t>Client SPA — для покупців (порт 5180)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Сторінки (14):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  Головна (Hero, категорії, промо)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  Каталог (фільтри, пошук)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  Сторінка товару (AI-опис, відгуки)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  Кошик (промокоди)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  Оформлення замовлення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  Логін / Реєстрація / Верифікація email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  Профіль / Історія замовлень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/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Компоненти: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  TopBar, Header, Footer, HeroSlider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  ProductCard, CategoryGrid, PromoBanner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/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Context API: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  AuthContext, CartContext, ThemeContext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01168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85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2011680"/>
            <a:ext cx="5212080" cy="50800"/>
          </a:xfrm>
          <a:prstGeom prst="rect">
            <a:avLst/>
          </a:prstGeom>
          <a:solidFill>
            <a:srgbClr val="FF8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1945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533"/>
                </a:solidFill>
                <a:latin typeface="Calibri"/>
              </a:defRPr>
            </a:pPr>
            <a:r>
              <a:t>Admin SPA — адмін-панель (порт 5183)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5603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Модулі: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  Dashboard (ключові метрики)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  Управління товарами (CRUD)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  Управління замовленнями (статуси)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  Управління користувачами (ролі)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  Управління промокодами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  Розширена аналітика: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    — сегментація клієнтів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    — CLV (Customer Lifetime Value)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    — воронка замовлень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    — дохід за період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    — крос-продажі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    — замовлення за днями тижня/годинами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/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Окремий SPA: React 19, TypeScript, Vite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2743200" cy="50800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t>Демонстрація системи — Клієнтська частина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10/12</a:t>
            </a:r>
          </a:p>
        </p:txBody>
      </p:sp>
      <p:pic>
        <p:nvPicPr>
          <p:cNvPr id="5" name="Picture 4" descr="ui_01_home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3566160" cy="2011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858768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Рис. 6. Головна сторінка</a:t>
            </a:r>
          </a:p>
        </p:txBody>
      </p:sp>
      <p:pic>
        <p:nvPicPr>
          <p:cNvPr id="7" name="Picture 6" descr="ui_02_catalo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828800"/>
            <a:ext cx="3566160" cy="2011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297680" y="3858768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Рис. 7. Каталог товарів</a:t>
            </a:r>
          </a:p>
        </p:txBody>
      </p:sp>
      <p:pic>
        <p:nvPicPr>
          <p:cNvPr id="9" name="Picture 8" descr="ui_03_produ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1828800"/>
            <a:ext cx="3566160" cy="20116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138160" y="3858768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Рис. 8. Сторінка товару</a:t>
            </a:r>
          </a:p>
        </p:txBody>
      </p:sp>
      <p:pic>
        <p:nvPicPr>
          <p:cNvPr id="11" name="Picture 10" descr="ui_06_c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251960"/>
            <a:ext cx="3566160" cy="20116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" y="6281928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Рис. 9. Кошик</a:t>
            </a:r>
          </a:p>
        </p:txBody>
      </p:sp>
      <p:pic>
        <p:nvPicPr>
          <p:cNvPr id="13" name="Picture 12" descr="ui_07_checkou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7680" y="4251960"/>
            <a:ext cx="3566160" cy="20116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297680" y="6281928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Рис. 10. Оформлення замовлення</a:t>
            </a:r>
          </a:p>
        </p:txBody>
      </p:sp>
      <p:pic>
        <p:nvPicPr>
          <p:cNvPr id="15" name="Picture 14" descr="ui_04_logi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8160" y="4251960"/>
            <a:ext cx="3566160" cy="20116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138160" y="6281928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Рис. 11. Авторизація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2743200" cy="50800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t>Демонстрація системи — Адміністративна панель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11/12</a:t>
            </a:r>
          </a:p>
        </p:txBody>
      </p:sp>
      <p:pic>
        <p:nvPicPr>
          <p:cNvPr id="5" name="Picture 4" descr="maks_admin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3566160" cy="2011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858768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Рис. 12. Dashboard</a:t>
            </a:r>
          </a:p>
        </p:txBody>
      </p:sp>
      <p:pic>
        <p:nvPicPr>
          <p:cNvPr id="7" name="Picture 6" descr="maks_admin_produc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828800"/>
            <a:ext cx="3566160" cy="2011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297680" y="3858768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Рис. 13. Управління товарами</a:t>
            </a:r>
          </a:p>
        </p:txBody>
      </p:sp>
      <p:pic>
        <p:nvPicPr>
          <p:cNvPr id="9" name="Picture 8" descr="maks_admin_ord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1828800"/>
            <a:ext cx="3566160" cy="20116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138160" y="3858768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Рис. 14. Управління замовленнями</a:t>
            </a:r>
          </a:p>
        </p:txBody>
      </p:sp>
      <p:pic>
        <p:nvPicPr>
          <p:cNvPr id="11" name="Picture 10" descr="maks_admin_analytic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251960"/>
            <a:ext cx="3566160" cy="20116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" y="6281928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Рис. 15. Розширена аналітика</a:t>
            </a:r>
          </a:p>
        </p:txBody>
      </p:sp>
      <p:pic>
        <p:nvPicPr>
          <p:cNvPr id="13" name="Picture 12" descr="ui_10_admin_us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7680" y="4251960"/>
            <a:ext cx="3566160" cy="20116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297680" y="6281928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Рис. 16. Управління користувачами</a:t>
            </a:r>
          </a:p>
        </p:txBody>
      </p:sp>
      <p:pic>
        <p:nvPicPr>
          <p:cNvPr id="15" name="Picture 14" descr="ui_11_admin_prom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8160" y="4251960"/>
            <a:ext cx="3566160" cy="20116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138160" y="6281928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Рис. 17. Промокоди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2743200" cy="50800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Висновки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▸  Проаналізовано існуючі рішення для підтримки продажів та обґрунтовано доцільність розроблення власної системи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▸  Сформульовано функціональні та нефункціональні вимоги до системи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▸  Спроектовано архітектуру клієнт-серверної системи та структуру реляційної бази даних (6 таблиць, PostgreSQL)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▸  Розроблено серверну частину на FastAPI з 8 модулями REST API, JWT-автентифікацією та рольовою моделлю доступу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▸  Розроблено дві клієнтські SPA на React 19: для покупців (14 сторінок) та для адміністрування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▸  Інтегровано платіжну систему LiqPay та AI-сервіс Google Gemini для генерації описів товарів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▸  Розгорнуто систему у Docker-середовищі (4 контейнери)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846320"/>
            <a:ext cx="10698480" cy="146304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937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8CAE4"/>
                </a:solidFill>
                <a:latin typeface="Calibri"/>
              </a:defRPr>
            </a:pPr>
            <a:r>
              <a:t>Перспективи розвитку: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03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•  Мобільний додаток (React Native)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•  Розширена аналітика з використанням ML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•  Інтеграція з CRM-системами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•  Підтримка мультимовності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96C7"/>
                </a:solidFill>
                <a:latin typeface="Calibri"/>
              </a:defRPr>
            </a:pPr>
            <a:r>
              <a:t>Дякую за увагу!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